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Mandatory placeholders: portfolio_value, analysis_date, data_date, client_name.
Keep typography hierarchy.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This slide is optional for short decks but recommended. Populate summary_bullets only from already computed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Required: table_asset_allocation, chart_asset_allocation_donut.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Use two tables when available: domestic-vs-foreign and foreign-region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At least one US exposure scenario must be present if calculated.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Do not omit low-weight sectors if they exist in the analysis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Required if portfolio contains fixed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Show separate conservative and extended duration only when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Costs must be traceable. Mark manager fee assumption explicitly when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Use methodology note when FX classification follows hedging policy rather than underlying holdings currency.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Use this slide whenever there are enough direct holdings or meaningful concentration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[Template]
Always populate this slide. This is the audit / traceability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20000">
            <a:off x="8595360" y="-365760"/>
            <a:ext cx="4389120" cy="7498080"/>
          </a:xfrm>
          <a:prstGeom prst="rect">
            <a:avLst/>
          </a:prstGeom>
          <a:solidFill>
            <a:srgbClr val="0B274E">
              <a:alpha val="92000"/>
            </a:srgbClr>
          </a:solidFill>
          <a:ln w="12700">
            <a:solidFill>
              <a:srgbClr val="0B274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420000">
            <a:off x="10058400" y="-365760"/>
            <a:ext cx="2011680" cy="7498080"/>
          </a:xfrm>
          <a:prstGeom prst="rect">
            <a:avLst/>
          </a:prstGeom>
          <a:solidFill>
            <a:srgbClr val="031229">
              <a:alpha val="82000"/>
            </a:srgbClr>
          </a:solidFill>
          <a:ln w="12700">
            <a:solidFill>
              <a:srgbClr val="03122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1155680" cy="0"/>
          </a:xfrm>
          <a:prstGeom prst="line">
            <a:avLst/>
          </a:prstGeom>
          <a:noFill/>
          <a:ln w="12700">
            <a:solidFill>
              <a:srgbClr val="D7B979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82512"/>
            <a:ext cx="11155680" cy="0"/>
          </a:xfrm>
          <a:prstGeom prst="line">
            <a:avLst/>
          </a:prstGeom>
          <a:noFill/>
          <a:ln w="12700">
            <a:solidFill>
              <a:srgbClr val="D7B979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6437376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8DD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Template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960120"/>
            <a:ext cx="6355080" cy="4480560"/>
          </a:xfrm>
          <a:prstGeom prst="roundRect">
            <a:avLst>
              <a:gd name="adj" fmla="val 102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43000" y="1417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ניתוח אסטרטגי של תיק השקעות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18562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Office Presentation Template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965960" y="2212848"/>
            <a:ext cx="4114800" cy="0"/>
          </a:xfrm>
          <a:prstGeom prst="line">
            <a:avLst/>
          </a:prstGeom>
          <a:noFill/>
          <a:ln w="12700">
            <a:solidFill>
              <a:srgbClr val="D7B979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2768" y="2697480"/>
            <a:ext cx="3977640" cy="868680"/>
          </a:xfrm>
          <a:prstGeom prst="roundRect">
            <a:avLst>
              <a:gd name="adj" fmla="val 3684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00784" y="2825496"/>
            <a:ext cx="3721608" cy="612648"/>
          </a:xfrm>
          <a:prstGeom prst="roundRect">
            <a:avLst>
              <a:gd name="adj" fmla="val 4478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2905597"/>
            <a:ext cx="3538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{{portfolio_value}}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10512" y="3179917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שווי תיק כולל / portfolio total value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572768" y="3749040"/>
            <a:ext cx="1874520" cy="749808"/>
          </a:xfrm>
          <a:prstGeom prst="roundRect">
            <a:avLst>
              <a:gd name="adj" fmla="val 4268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00784" y="3877056"/>
            <a:ext cx="1618488" cy="493776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3923873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{{analysis_date}}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4198193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תאריך בדיקה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75888" y="3749040"/>
            <a:ext cx="1874520" cy="749808"/>
          </a:xfrm>
          <a:prstGeom prst="roundRect">
            <a:avLst>
              <a:gd name="adj" fmla="val 4268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3877056"/>
            <a:ext cx="1618488" cy="493776"/>
          </a:xfrm>
          <a:prstGeom prst="roundRect">
            <a:avLst>
              <a:gd name="adj" fmla="val 55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95344" y="3923873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{{data_date}}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4198193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תאריך נתונים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72768" y="4681728"/>
            <a:ext cx="3977640" cy="786384"/>
          </a:xfrm>
          <a:prstGeom prst="roundRect">
            <a:avLst>
              <a:gd name="adj" fmla="val 407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700784" y="4809744"/>
            <a:ext cx="3721608" cy="530352"/>
          </a:xfrm>
          <a:prstGeom prst="roundRect">
            <a:avLst>
              <a:gd name="adj" fmla="val 5172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92224" y="4866803"/>
            <a:ext cx="3538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{{client_name}}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10512" y="5141123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שם לקוח / משפחה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732520" y="54681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B9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• Fillable • Audit-ready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יש להחליף placeholders בלבד. אין לשבור את חלוקת האזורים בשקף.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שקף פתיחה תמציתי שמרכז את המספרים הכי חשובים והמסר המרכזי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2331720" cy="914400"/>
          </a:xfrm>
          <a:prstGeom prst="roundRect">
            <a:avLst>
              <a:gd name="adj" fmla="val 3500"/>
            </a:avLst>
          </a:prstGeom>
          <a:solidFill>
            <a:srgbClr val="11325E"/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36245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שווי תיק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05256" y="162763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{{portfolio_value}}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331720" cy="914400"/>
          </a:xfrm>
          <a:prstGeom prst="roundRect">
            <a:avLst>
              <a:gd name="adj" fmla="val 3500"/>
            </a:avLst>
          </a:prstGeom>
          <a:solidFill>
            <a:srgbClr val="11325E"/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136245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אחוז מניות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19856" y="162763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{{equity_percent}}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234440"/>
            <a:ext cx="2331720" cy="914400"/>
          </a:xfrm>
          <a:prstGeom prst="roundRect">
            <a:avLst>
              <a:gd name="adj" fmla="val 3500"/>
            </a:avLst>
          </a:prstGeom>
          <a:solidFill>
            <a:srgbClr val="11325E"/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4456" y="136245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אחוז חוב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34456" y="162763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{{bond_percent}}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234440"/>
            <a:ext cx="2331720" cy="914400"/>
          </a:xfrm>
          <a:prstGeom prst="roundRect">
            <a:avLst>
              <a:gd name="adj" fmla="val 3500"/>
            </a:avLst>
          </a:prstGeom>
          <a:solidFill>
            <a:srgbClr val="11325E"/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36245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אחוז מזומן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49056" y="1627632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{{cash_percent}}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2514600"/>
            <a:ext cx="5257800" cy="3063240"/>
          </a:xfrm>
          <a:prstGeom prst="roundRect">
            <a:avLst>
              <a:gd name="adj" fmla="val 1045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" y="2624328"/>
            <a:ext cx="4928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Takeaways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1832" y="2907792"/>
            <a:ext cx="4928616" cy="0"/>
          </a:xfrm>
          <a:prstGeom prst="line">
            <a:avLst/>
          </a:prstGeom>
          <a:noFill/>
          <a:ln w="12700">
            <a:solidFill>
              <a:srgbClr val="C8CED7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" y="2862072"/>
            <a:ext cx="5001768" cy="2587752"/>
          </a:xfrm>
          <a:prstGeom prst="roundRect">
            <a:avLst>
              <a:gd name="adj" fmla="val 106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3495203"/>
            <a:ext cx="4818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{{summary_bullets}}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14984" y="3769523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תובנות הנהלה / bullets קצרים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2514600"/>
            <a:ext cx="5349240" cy="3063240"/>
          </a:xfrm>
          <a:prstGeom prst="roundRect">
            <a:avLst>
              <a:gd name="adj" fmla="val 1045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82512" y="2624328"/>
            <a:ext cx="5020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Visual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82512" y="2907792"/>
            <a:ext cx="5020056" cy="0"/>
          </a:xfrm>
          <a:prstGeom prst="line">
            <a:avLst/>
          </a:prstGeom>
          <a:noFill/>
          <a:ln w="12700">
            <a:solidFill>
              <a:srgbClr val="C8CED7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2862072"/>
            <a:ext cx="5093208" cy="2587752"/>
          </a:xfrm>
          <a:prstGeom prst="roundRect">
            <a:avLst>
              <a:gd name="adj" fmla="val 106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3495203"/>
            <a:ext cx="4910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{{summary_visual}}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55664" y="3769523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תרשים קטן / mini dashboard / allocation snapshot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אין מספיק תוכן איכותי לסיכום הנהלה — עדיף להציג פחות bullets ולא טקסט מלאכותי.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Allocation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חלוקה בין מניות, חוב, מזומן ואחר — תמיד להציג גם שווי וגם אחוז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063240" cy="4526280"/>
          </a:xfrm>
          <a:prstGeom prst="roundRect">
            <a:avLst>
              <a:gd name="adj" fmla="val 1045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362456"/>
            <a:ext cx="2807208" cy="4270248"/>
          </a:xfrm>
          <a:prstGeom prst="roundRect">
            <a:avLst>
              <a:gd name="adj" fmla="val 97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66685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{{table_asset_allocation}}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741005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טבלה מלאה: רכיב / שווי / משקל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1234440"/>
            <a:ext cx="3749040" cy="4526280"/>
          </a:xfrm>
          <a:prstGeom prst="roundRect">
            <a:avLst>
              <a:gd name="adj" fmla="val 854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97096" y="1362456"/>
            <a:ext cx="3493008" cy="4270248"/>
          </a:xfrm>
          <a:prstGeom prst="roundRect">
            <a:avLst>
              <a:gd name="adj" fmla="val 78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8536" y="2466685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{{chart_asset_allocation_donut}}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06824" y="2741005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גרף donut / pie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383280" cy="1965960"/>
          </a:xfrm>
          <a:prstGeom prst="roundRect">
            <a:avLst>
              <a:gd name="adj" fmla="val 1628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0456" y="1362456"/>
            <a:ext cx="3127248" cy="1709928"/>
          </a:xfrm>
          <a:prstGeom prst="roundRect">
            <a:avLst>
              <a:gd name="adj" fmla="val 1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749796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{{insight_asset_allocation}}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30184" y="202411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תובנות קצרות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92440" y="3474720"/>
            <a:ext cx="3383280" cy="2286000"/>
          </a:xfrm>
          <a:prstGeom prst="roundRect">
            <a:avLst>
              <a:gd name="adj" fmla="val 14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0456" y="3602736"/>
            <a:ext cx="3127248" cy="2029968"/>
          </a:xfrm>
          <a:prstGeom prst="roundRect">
            <a:avLst>
              <a:gd name="adj" fmla="val 13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4079687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{{method_asset_allocation}}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0184" y="4354007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הערות מתודולוגיה / האם מזומן נכלל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אסור להשמיט קטגוריה קיימת; אם רכיב הוא 0, יש לכתוב 0 במפורש או למחוק לפי כללי ה-slide packet.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Geography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ישראל מול חו"ל + פירוק עיקרי של חו"ל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880360" cy="1965960"/>
          </a:xfrm>
          <a:prstGeom prst="roundRect">
            <a:avLst>
              <a:gd name="adj" fmla="val 1628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362456"/>
            <a:ext cx="2624328" cy="1709928"/>
          </a:xfrm>
          <a:prstGeom prst="roundRect">
            <a:avLst>
              <a:gd name="adj" fmla="val 1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749796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{{table_equity_domestic_foreign}}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02411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ישראל / חו"ל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2880360" cy="2331720"/>
          </a:xfrm>
          <a:prstGeom prst="roundRect">
            <a:avLst>
              <a:gd name="adj" fmla="val 1373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3557016"/>
            <a:ext cx="2624328" cy="2075688"/>
          </a:xfrm>
          <a:prstGeom prst="roundRect">
            <a:avLst>
              <a:gd name="adj" fmla="val 1322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046769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{{table_equity_geography_breakdown}}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9264" y="4321089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ארה"ב / אירופה / אחר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13632" y="1234440"/>
            <a:ext cx="3886200" cy="4526280"/>
          </a:xfrm>
          <a:prstGeom prst="roundRect">
            <a:avLst>
              <a:gd name="adj" fmla="val 824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41648" y="1362456"/>
            <a:ext cx="3630168" cy="4270248"/>
          </a:xfrm>
          <a:prstGeom prst="roundRect">
            <a:avLst>
              <a:gd name="adj" fmla="val 75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2466685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{{chart_equity_geography}}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51376" y="2741005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 / donut / stacked bar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92440" y="1234440"/>
            <a:ext cx="3383280" cy="4526280"/>
          </a:xfrm>
          <a:prstGeom prst="roundRect">
            <a:avLst>
              <a:gd name="adj" fmla="val 946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0456" y="1362456"/>
            <a:ext cx="3127248" cy="4270248"/>
          </a:xfrm>
          <a:prstGeom prst="roundRect">
            <a:avLst>
              <a:gd name="adj" fmla="val 87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2466685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{{insight_equity_geography}}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0184" y="2741005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הערות על ריכוז גיאוגרפי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100% מהמניות הן חו"ל, יש לציין זאת במפורש במקום לנסות “לאזן” את השקף.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Exposure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להציג conservative ו-broad רק אם קיימות שתי שיטות חישוב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56032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453896"/>
            <a:ext cx="230428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546799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{{us_exposure_conservative}}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4984" y="1821119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חשיפה ישירה / שמרנית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256032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" y="2642616"/>
            <a:ext cx="230428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735519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{{us_exposure_broad}}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4984" y="3009839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חשיפה מרחיבה / כוללת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2560320" cy="1783080"/>
          </a:xfrm>
          <a:prstGeom prst="roundRect">
            <a:avLst>
              <a:gd name="adj" fmla="val 1795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5256" y="3831336"/>
            <a:ext cx="2304288" cy="1527048"/>
          </a:xfrm>
          <a:prstGeom prst="roundRect">
            <a:avLst>
              <a:gd name="adj" fmla="val 17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4167469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{{us_exposure_methodology}}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14984" y="4441789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הערת מתודולוגיה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49040" y="1325880"/>
            <a:ext cx="3977640" cy="4160520"/>
          </a:xfrm>
          <a:prstGeom prst="roundRect">
            <a:avLst>
              <a:gd name="adj" fmla="val 805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1453896"/>
            <a:ext cx="3721608" cy="3904488"/>
          </a:xfrm>
          <a:prstGeom prst="roundRect">
            <a:avLst>
              <a:gd name="adj" fmla="val 73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2455713"/>
            <a:ext cx="3538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{{chart_us_exposure_comparison}}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86784" y="2730033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סרגלים / comparison chart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38160" y="1325880"/>
            <a:ext cx="3383280" cy="4160520"/>
          </a:xfrm>
          <a:prstGeom prst="roundRect">
            <a:avLst>
              <a:gd name="adj" fmla="val 946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66176" y="1453896"/>
            <a:ext cx="3127248" cy="3904488"/>
          </a:xfrm>
          <a:prstGeom prst="roundRect">
            <a:avLst>
              <a:gd name="adj" fmla="val 87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2455713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{{insight_us_exposure}}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75904" y="2730033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פרשנות עסקית / ריכוז בארה"ב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קיימת רק שיטה אחת, להשתמש ב-box השני להערה מתודולוגית ולא להציג placeholder ריק.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 Allocation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פירוק סקטוריאלי מלא של רכיב המניות, כולל הערכות proxy אם יש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423160" cy="5166360"/>
          </a:xfrm>
          <a:prstGeom prst="roundRect">
            <a:avLst>
              <a:gd name="adj" fmla="val 1321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179576"/>
            <a:ext cx="2167128" cy="4910328"/>
          </a:xfrm>
          <a:prstGeom prst="roundRect">
            <a:avLst>
              <a:gd name="adj" fmla="val 126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246302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{{table_sector_allocation}}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0664" y="2737348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 / Value / % of equities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1051560"/>
            <a:ext cx="5806440" cy="5166360"/>
          </a:xfrm>
          <a:prstGeom prst="roundRect">
            <a:avLst>
              <a:gd name="adj" fmla="val 619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82696" y="1179576"/>
            <a:ext cx="5550408" cy="4910328"/>
          </a:xfrm>
          <a:prstGeom prst="roundRect">
            <a:avLst>
              <a:gd name="adj" fmla="val 5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2463028"/>
            <a:ext cx="5367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{{chart_sector_treemap}}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92424" y="2737348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Treemap / mosaic / packed chart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89720" y="1051560"/>
            <a:ext cx="2514600" cy="2834640"/>
          </a:xfrm>
          <a:prstGeom prst="roundRect">
            <a:avLst>
              <a:gd name="adj" fmla="val 1273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17736" y="1179576"/>
            <a:ext cx="2258568" cy="2578608"/>
          </a:xfrm>
          <a:prstGeom prst="roundRect">
            <a:avLst>
              <a:gd name="adj" fmla="val 121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9176" y="181014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{{insight_sector_allocation}}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427464" y="2084466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תובנות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89720" y="4160520"/>
            <a:ext cx="2514600" cy="2057400"/>
          </a:xfrm>
          <a:prstGeom prst="roundRect">
            <a:avLst>
              <a:gd name="adj" fmla="val 1556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17736" y="4288536"/>
            <a:ext cx="2258568" cy="1801368"/>
          </a:xfrm>
          <a:prstGeom prst="roundRect">
            <a:avLst>
              <a:gd name="adj" fmla="val 1523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4701479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{{footnote_sector_methodology}}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27464" y="4975799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מקורות / proxy / benchmark notes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קיימת הערכה סקטוריאלית — חובה לסמן זאת גם כאן וגם ב-Appendix.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Income Breakdown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צמוד מדד / שקלי / דולרי / גלובלי / אחר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971800" cy="4526280"/>
          </a:xfrm>
          <a:prstGeom prst="roundRect">
            <a:avLst>
              <a:gd name="adj" fmla="val 1077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362456"/>
            <a:ext cx="2715768" cy="4270248"/>
          </a:xfrm>
          <a:prstGeom prst="roundRect">
            <a:avLst>
              <a:gd name="adj" fmla="val 10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66685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{{table_bond_breakdown}}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74100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טבלה מלאה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77640" y="1234440"/>
            <a:ext cx="3794760" cy="4526280"/>
          </a:xfrm>
          <a:prstGeom prst="roundRect">
            <a:avLst>
              <a:gd name="adj" fmla="val 843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05656" y="1362456"/>
            <a:ext cx="3538728" cy="4270248"/>
          </a:xfrm>
          <a:prstGeom prst="roundRect">
            <a:avLst>
              <a:gd name="adj" fmla="val 77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7096" y="2466685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{{chart_bond_breakdown}}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15384" y="2741005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 / donut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383280" cy="1965960"/>
          </a:xfrm>
          <a:prstGeom prst="roundRect">
            <a:avLst>
              <a:gd name="adj" fmla="val 1628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0456" y="1362456"/>
            <a:ext cx="3127248" cy="1709928"/>
          </a:xfrm>
          <a:prstGeom prst="roundRect">
            <a:avLst>
              <a:gd name="adj" fmla="val 1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749796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{{insight_bond_breakdown}}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30184" y="202411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תובנות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92440" y="3474720"/>
            <a:ext cx="3383280" cy="2286000"/>
          </a:xfrm>
          <a:prstGeom prst="roundRect">
            <a:avLst>
              <a:gd name="adj" fmla="val 14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0456" y="3602736"/>
            <a:ext cx="3127248" cy="2029968"/>
          </a:xfrm>
          <a:prstGeom prst="roundRect">
            <a:avLst>
              <a:gd name="adj" fmla="val 13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4079687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{{method_bond_breakdown}}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0184" y="4354007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הערות סיווג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יש לציין 0 במפורש בקטגוריות שלא קיימות, אם כללי ה-export דורשים טבלה מלאה.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Duration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מח"מ לפי רכיב + מח"מ משוקלל שמרני / מורחב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971800" cy="4526280"/>
          </a:xfrm>
          <a:prstGeom prst="roundRect">
            <a:avLst>
              <a:gd name="adj" fmla="val 1077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362456"/>
            <a:ext cx="2715768" cy="4270248"/>
          </a:xfrm>
          <a:prstGeom prst="roundRect">
            <a:avLst>
              <a:gd name="adj" fmla="val 10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66685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{{table_duration}}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74100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נייר / שווי / מח"מ / מקור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77640" y="1234440"/>
            <a:ext cx="3840480" cy="4526280"/>
          </a:xfrm>
          <a:prstGeom prst="roundRect">
            <a:avLst>
              <a:gd name="adj" fmla="val 833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05656" y="1362456"/>
            <a:ext cx="3584448" cy="4270248"/>
          </a:xfrm>
          <a:prstGeom prst="roundRect">
            <a:avLst>
              <a:gd name="adj" fmla="val 76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7096" y="2466685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{{chart_duration_bar}}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15384" y="2741005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33756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362456"/>
            <a:ext cx="308152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455359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{{weighted_duration_conservative}}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5904" y="1729679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33756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2596896"/>
            <a:ext cx="308152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689799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{{weighted_duration_extended}}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75904" y="2964119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Extended / Estimated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38160" y="3703320"/>
            <a:ext cx="3337560" cy="2057400"/>
          </a:xfrm>
          <a:prstGeom prst="roundRect">
            <a:avLst>
              <a:gd name="adj" fmla="val 1556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66176" y="3831336"/>
            <a:ext cx="3081528" cy="1801368"/>
          </a:xfrm>
          <a:prstGeom prst="roundRect">
            <a:avLst>
              <a:gd name="adj" fmla="val 1523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4244279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{{method_duration}}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75904" y="4518599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הערות estimation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אין extended duration, למחוק או להפוך את ה-box השני להערה טקסטואלית.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עלויות קרנות + עלות אפקטיבית על כלל התיק + דמי ניהול מנהל תיקים אם קיימים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017520" cy="4526280"/>
          </a:xfrm>
          <a:prstGeom prst="roundRect">
            <a:avLst>
              <a:gd name="adj" fmla="val 1061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362456"/>
            <a:ext cx="2761488" cy="4270248"/>
          </a:xfrm>
          <a:prstGeom prst="roundRect">
            <a:avLst>
              <a:gd name="adj" fmla="val 993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66685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{{table_fund_costs}}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741005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קרן / דמי ניהול / מקור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23360" y="1234440"/>
            <a:ext cx="352044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51376" y="1362456"/>
            <a:ext cx="326440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1455359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{{weighted_fund_cost}}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61104" y="1729679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עלות משוקללת על קרנות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2468880"/>
            <a:ext cx="352044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51376" y="2596896"/>
            <a:ext cx="326440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689799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{{effective_fund_cost_on_total_portfolio}}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61104" y="2964119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עלות אפקטיבית על כלל התיק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23360" y="3703320"/>
            <a:ext cx="352044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51376" y="3831336"/>
            <a:ext cx="326440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42816" y="3924239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{{portfolio_manager_fee}}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61104" y="4198559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דמי ניהול מנהל תיק / assumption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63840" y="1234440"/>
            <a:ext cx="3657600" cy="1097280"/>
          </a:xfrm>
          <a:prstGeom prst="roundRect">
            <a:avLst>
              <a:gd name="adj" fmla="val 2917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91856" y="1362456"/>
            <a:ext cx="3401568" cy="841248"/>
          </a:xfrm>
          <a:prstGeom prst="roundRect">
            <a:avLst>
              <a:gd name="adj" fmla="val 326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1506565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{{total_cost_percent}}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01584" y="1780885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עלות כוללת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63840" y="2697480"/>
            <a:ext cx="3657600" cy="3063240"/>
          </a:xfrm>
          <a:prstGeom prst="roundRect">
            <a:avLst>
              <a:gd name="adj" fmla="val 1045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91856" y="2825496"/>
            <a:ext cx="3401568" cy="2807208"/>
          </a:xfrm>
          <a:prstGeom prst="roundRect">
            <a:avLst>
              <a:gd name="adj" fmla="val 97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3520074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{{cost_notes}}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01584" y="3794394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הערות על כפילות / הנחות / methodology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דמי ניהול מנהל תיק אינם ידועים, אל תחשב עלות כוללת כאילו זה נתון ודאי.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FX Exposure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חשיפה שקלית מול מט"ח לפי גידור בפועל / מדיניות הקרן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971800" cy="4526280"/>
          </a:xfrm>
          <a:prstGeom prst="roundRect">
            <a:avLst>
              <a:gd name="adj" fmla="val 1077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362456"/>
            <a:ext cx="2715768" cy="4270248"/>
          </a:xfrm>
          <a:prstGeom prst="roundRect">
            <a:avLst>
              <a:gd name="adj" fmla="val 101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66685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{{table_fx_exposure}}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741005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קטגוריה / שווי / %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77640" y="1234440"/>
            <a:ext cx="3794760" cy="4526280"/>
          </a:xfrm>
          <a:prstGeom prst="roundRect">
            <a:avLst>
              <a:gd name="adj" fmla="val 843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05656" y="1362456"/>
            <a:ext cx="3538728" cy="4270248"/>
          </a:xfrm>
          <a:prstGeom prst="roundRect">
            <a:avLst>
              <a:gd name="adj" fmla="val 77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7096" y="2466685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{{chart_fx_exposure}}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15384" y="2741005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Donut / pie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383280" cy="1965960"/>
          </a:xfrm>
          <a:prstGeom prst="roundRect">
            <a:avLst>
              <a:gd name="adj" fmla="val 1628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0456" y="1362456"/>
            <a:ext cx="3127248" cy="1709928"/>
          </a:xfrm>
          <a:prstGeom prst="roundRect">
            <a:avLst>
              <a:gd name="adj" fmla="val 160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749796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{{insight_fx_exposure}}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30184" y="202411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תובנות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92440" y="3474720"/>
            <a:ext cx="3383280" cy="2286000"/>
          </a:xfrm>
          <a:prstGeom prst="roundRect">
            <a:avLst>
              <a:gd name="adj" fmla="val 14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0456" y="3602736"/>
            <a:ext cx="3127248" cy="2029968"/>
          </a:xfrm>
          <a:prstGeom prst="roundRect">
            <a:avLst>
              <a:gd name="adj" fmla="val 13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1896" y="4079687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{{method_fx_exposure}}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0184" y="4354007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האם הסיווג לפי hedging policy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יש bucket של mixed/uncertain, יש להסביר בדיוק למה.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Concentration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ריכוזיות אחזקות — top 5 / top 10 / החזקות בודדות משמעותיות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749040" cy="4526280"/>
          </a:xfrm>
          <a:prstGeom prst="roundRect">
            <a:avLst>
              <a:gd name="adj" fmla="val 854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362456"/>
            <a:ext cx="3493008" cy="4270248"/>
          </a:xfrm>
          <a:prstGeom prst="roundRect">
            <a:avLst>
              <a:gd name="adj" fmla="val 785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466685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{{table_top_holdings}}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" y="2741005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holdings table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288036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82896" y="1362456"/>
            <a:ext cx="262432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455359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{{top_5_weight}}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92624" y="1729679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weight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2880360" cy="914400"/>
          </a:xfrm>
          <a:prstGeom prst="roundRect">
            <a:avLst>
              <a:gd name="adj" fmla="val 3500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82896" y="2596896"/>
            <a:ext cx="2624328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2689799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{{top_10_weight}}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92624" y="2964119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weight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3703320"/>
            <a:ext cx="2880360" cy="2057400"/>
          </a:xfrm>
          <a:prstGeom prst="roundRect">
            <a:avLst>
              <a:gd name="adj" fmla="val 1556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82896" y="3831336"/>
            <a:ext cx="2624328" cy="1801368"/>
          </a:xfrm>
          <a:prstGeom prst="roundRect">
            <a:avLst>
              <a:gd name="adj" fmla="val 1523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4244279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{{single_name_risk_note}}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518599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ריכוז חריג / single-name 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955280" y="1234440"/>
            <a:ext cx="3520440" cy="4526280"/>
          </a:xfrm>
          <a:prstGeom prst="roundRect">
            <a:avLst>
              <a:gd name="adj" fmla="val 909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83296" y="1362456"/>
            <a:ext cx="3264408" cy="4270248"/>
          </a:xfrm>
          <a:prstGeom prst="roundRect">
            <a:avLst>
              <a:gd name="adj" fmla="val 84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2466685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{{chart_concentration}}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93024" y="2741005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/ Pareto / stacked concentration view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אם אין ריכוזיות חריגה — לכתוב זאת במפורש במקום להשאיר שקף “דרמטי” מדי.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– Assumptions, Sources &amp; QA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שקף ביקורת ותיעוד חובה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703320" cy="5074920"/>
          </a:xfrm>
          <a:prstGeom prst="roundRect">
            <a:avLst>
              <a:gd name="adj" fmla="val 864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25272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/ Estimates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04672" y="1536192"/>
            <a:ext cx="3374136" cy="0"/>
          </a:xfrm>
          <a:prstGeom prst="line">
            <a:avLst/>
          </a:prstGeom>
          <a:noFill/>
          <a:ln w="12700">
            <a:solidFill>
              <a:srgbClr val="C8CED7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90472"/>
            <a:ext cx="3447288" cy="4599432"/>
          </a:xfrm>
          <a:prstGeom prst="roundRect">
            <a:avLst>
              <a:gd name="adj" fmla="val 7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686873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{{table_assumptions}}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961193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כל הנחות והערכות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26280" y="1143000"/>
            <a:ext cx="3703320" cy="5074920"/>
          </a:xfrm>
          <a:prstGeom prst="roundRect">
            <a:avLst>
              <a:gd name="adj" fmla="val 864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125272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Register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90872" y="1536192"/>
            <a:ext cx="3374136" cy="0"/>
          </a:xfrm>
          <a:prstGeom prst="line">
            <a:avLst/>
          </a:prstGeom>
          <a:noFill/>
          <a:ln w="12700">
            <a:solidFill>
              <a:srgbClr val="C8CED7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1490472"/>
            <a:ext cx="3447288" cy="4599432"/>
          </a:xfrm>
          <a:prstGeom prst="roundRect">
            <a:avLst>
              <a:gd name="adj" fmla="val 7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686873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{{table_sources}}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64024" y="2961193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מקורות מידע לכל הנתונים הלא טריוויאליים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12480" y="1143000"/>
            <a:ext cx="3154680" cy="5074920"/>
          </a:xfrm>
          <a:prstGeom prst="roundRect">
            <a:avLst>
              <a:gd name="adj" fmla="val 1014"/>
            </a:avLst>
          </a:prstGeom>
          <a:solidFill>
            <a:srgbClr val="F6F7F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2860" dist="1016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77072" y="1252728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Gate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77072" y="1536192"/>
            <a:ext cx="2825496" cy="0"/>
          </a:xfrm>
          <a:prstGeom prst="line">
            <a:avLst/>
          </a:prstGeom>
          <a:noFill/>
          <a:ln w="12700">
            <a:solidFill>
              <a:srgbClr val="C8CED7">
                <a:alpha val="9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1490472"/>
            <a:ext cx="2898648" cy="4599432"/>
          </a:xfrm>
          <a:prstGeom prst="roundRect">
            <a:avLst>
              <a:gd name="adj" fmla="val 94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B979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1936" y="2686873"/>
            <a:ext cx="2715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91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{{qa_checklist}}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50224" y="2961193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74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Checklist: sums, labels, missing data, estimated flags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" y="6419088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D9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שקף זה לא למחיקה. הוא מבטיח traceability מלאה של הניתוח והמצגת.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8DDE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Analysis Template — Fillable</dc:title>
  <dc:subject>Portfolio Analysis Template</dc:subject>
  <dc:creator>OpenAI</dc:creator>
  <cp:lastModifiedBy>OpenAI</cp:lastModifiedBy>
  <cp:revision>1</cp:revision>
  <dcterms:created xsi:type="dcterms:W3CDTF">2026-03-15T20:10:35Z</dcterms:created>
  <dcterms:modified xsi:type="dcterms:W3CDTF">2026-03-15T20:10:35Z</dcterms:modified>
</cp:coreProperties>
</file>